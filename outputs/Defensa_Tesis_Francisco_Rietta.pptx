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071E3"/>
                </a:solidFill>
                <a:latin typeface="Calibri"/>
              </a:rPr>
              <a:t>UNIVERSIDAD SAN SEBASTIÁN · MAGÍSTER EN DATA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D1D1F"/>
                </a:solidFill>
                <a:latin typeface="Calibri Light"/>
              </a:rPr>
              <a:t>Impacto de las variables macroeconómicas en los retornos accionarios de las empresas de cobre con exposición a Chile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480560"/>
            <a:ext cx="9418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E6E73"/>
                </a:solidFill>
                <a:latin typeface="Calibri Light"/>
              </a:rPr>
              <a:t>Una comparación entre el mercado bursátil internacional y el chileno · 2004–2024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1F"/>
                </a:solidFill>
                <a:latin typeface="Calibri"/>
              </a:rPr>
              <a:t>Francisco Rietta   ·   Profesor guía: [Nombre]   ·   Santiago,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071E3"/>
                </a:solidFill>
                <a:latin typeface="Calibri"/>
              </a:rPr>
              <a:t>CONTEXTO Y PROBLEMA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960120"/>
            <a:ext cx="640080" cy="63500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D1D1F"/>
                </a:solidFill>
                <a:latin typeface="Calibri Light"/>
              </a:rPr>
              <a:t>Por qué importa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2100">
                <a:solidFill>
                  <a:srgbClr val="0071E3"/>
                </a:solidFill>
              </a:rPr>
              <a:t>•  </a:t>
            </a:r>
            <a:r>
              <a:rPr sz="2100" b="1">
                <a:solidFill>
                  <a:srgbClr val="1D1D1F"/>
                </a:solidFill>
                <a:latin typeface="Calibri"/>
              </a:rPr>
              <a:t>El cobre </a:t>
            </a:r>
            <a:r>
              <a:rPr sz="2100">
                <a:solidFill>
                  <a:srgbClr val="1D1D1F"/>
                </a:solidFill>
                <a:latin typeface="Calibri"/>
              </a:rPr>
              <a:t>es la columna de la economía chilena: define exportaciones, fisco y tipo de cambio.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2100">
                <a:solidFill>
                  <a:srgbClr val="0071E3"/>
                </a:solidFill>
              </a:rPr>
              <a:t>•  </a:t>
            </a:r>
            <a:r>
              <a:rPr sz="2100" b="1">
                <a:solidFill>
                  <a:srgbClr val="1D1D1F"/>
                </a:solidFill>
                <a:latin typeface="Calibri"/>
              </a:rPr>
              <a:t>La pregunta abierta: </a:t>
            </a:r>
            <a:r>
              <a:rPr sz="2100">
                <a:solidFill>
                  <a:srgbClr val="1D1D1F"/>
                </a:solidFill>
                <a:latin typeface="Calibri"/>
              </a:rPr>
              <a:t>¿cuánto, cómo y dónde se transmite el shock macro a las acciones de cobre?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2100">
                <a:solidFill>
                  <a:srgbClr val="0071E3"/>
                </a:solidFill>
              </a:rPr>
              <a:t>•  </a:t>
            </a:r>
            <a:r>
              <a:rPr sz="2100" b="1">
                <a:solidFill>
                  <a:srgbClr val="1D1D1F"/>
                </a:solidFill>
                <a:latin typeface="Calibri"/>
              </a:rPr>
              <a:t>Vacío: </a:t>
            </a:r>
            <a:r>
              <a:rPr sz="2100">
                <a:solidFill>
                  <a:srgbClr val="1D1D1F"/>
                </a:solidFill>
                <a:latin typeface="Calibri"/>
              </a:rPr>
              <a:t>la literatura macro→retornos se concentra en mercados desarrollados e índices agregados; el cobre, a nivel de empresas con exposición a Chile, está sin estudiar.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2100">
                <a:solidFill>
                  <a:srgbClr val="0071E3"/>
                </a:solidFill>
              </a:rPr>
              <a:t>•  </a:t>
            </a:r>
            <a:r>
              <a:rPr sz="2100" b="1">
                <a:solidFill>
                  <a:srgbClr val="1D1D1F"/>
                </a:solidFill>
                <a:latin typeface="Calibri"/>
              </a:rPr>
              <a:t>Nadie </a:t>
            </a:r>
            <a:r>
              <a:rPr sz="2100">
                <a:solidFill>
                  <a:srgbClr val="1D1D1F"/>
                </a:solidFill>
                <a:latin typeface="Calibri"/>
              </a:rPr>
              <a:t>ha comparado formalmente cómo el mercado internacional y el chileno precian el mismo cobre.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E6E73"/>
                </a:solidFill>
                <a:latin typeface="Calibri"/>
              </a:rPr>
              <a:t>Impacto macroeconómico en el sector cobre · USS · Magíster en Data Science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6E6E7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071E3"/>
                </a:solidFill>
                <a:latin typeface="Calibri"/>
              </a:rPr>
              <a:t>OBJETIVO Y PREGUNTAS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960120"/>
            <a:ext cx="640080" cy="63500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D1D1F"/>
                </a:solidFill>
                <a:latin typeface="Calibri Light"/>
              </a:rPr>
              <a:t>Qué se busca responder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1D1D1F"/>
                </a:solidFill>
                <a:latin typeface="Calibri Light"/>
              </a:rPr>
              <a:t>Cuantificar y comparar el impacto de las variables macroeconómicas globales y nacionales sobre los retornos accionarios de las empresas de cobre con exposición a Chile (2004–2024), contrastando su transmisión entre el mercado internacional y el chileno.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2100">
                <a:solidFill>
                  <a:srgbClr val="0071E3"/>
                </a:solidFill>
              </a:rPr>
              <a:t>•  </a:t>
            </a:r>
            <a:r>
              <a:rPr sz="2100" b="1">
                <a:solidFill>
                  <a:srgbClr val="1D1D1F"/>
                </a:solidFill>
                <a:latin typeface="Calibri"/>
              </a:rPr>
              <a:t>H1: </a:t>
            </a:r>
            <a:r>
              <a:rPr sz="2100">
                <a:solidFill>
                  <a:srgbClr val="1D1D1F"/>
                </a:solidFill>
                <a:latin typeface="Calibri"/>
              </a:rPr>
              <a:t>el cobre es el principal determinante (efecto positivo).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2100">
                <a:solidFill>
                  <a:srgbClr val="0071E3"/>
                </a:solidFill>
              </a:rPr>
              <a:t>•  </a:t>
            </a:r>
            <a:r>
              <a:rPr sz="2100" b="1">
                <a:solidFill>
                  <a:srgbClr val="1D1D1F"/>
                </a:solidFill>
                <a:latin typeface="Calibri"/>
              </a:rPr>
              <a:t>H6: </a:t>
            </a:r>
            <a:r>
              <a:rPr sz="2100">
                <a:solidFill>
                  <a:srgbClr val="1D1D1F"/>
                </a:solidFill>
                <a:latin typeface="Calibri"/>
              </a:rPr>
              <a:t>los factores globales dominan a los locales.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2100">
                <a:solidFill>
                  <a:srgbClr val="0071E3"/>
                </a:solidFill>
              </a:rPr>
              <a:t>•  </a:t>
            </a:r>
            <a:r>
              <a:rPr sz="2100" b="1">
                <a:solidFill>
                  <a:srgbClr val="1D1D1F"/>
                </a:solidFill>
                <a:latin typeface="Calibri"/>
              </a:rPr>
              <a:t>H7: </a:t>
            </a:r>
            <a:r>
              <a:rPr sz="2100">
                <a:solidFill>
                  <a:srgbClr val="1D1D1F"/>
                </a:solidFill>
                <a:latin typeface="Calibri"/>
              </a:rPr>
              <a:t>el mercado internacional incorpora el shock más completamente que el chileno.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E6E73"/>
                </a:solidFill>
                <a:latin typeface="Calibri"/>
              </a:rPr>
              <a:t>Impacto macroeconómico en el sector cobre · USS · Magíster en Data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6E6E7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071E3"/>
                </a:solidFill>
                <a:latin typeface="Calibri"/>
              </a:rPr>
              <a:t>DISEÑO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960120"/>
            <a:ext cx="640080" cy="63500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D1D1F"/>
                </a:solidFill>
                <a:latin typeface="Calibri Light"/>
              </a:rPr>
              <a:t>Triangulación por tres muestras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520440" cy="2926080"/>
          </a:xfrm>
          <a:prstGeom prst="roundRect">
            <a:avLst/>
          </a:prstGeom>
          <a:solidFill>
            <a:srgbClr val="FBFBFD"/>
          </a:solidFill>
          <a:ln>
            <a:solidFill>
              <a:srgbClr val="E0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0071E3"/>
                </a:solidFill>
                <a:latin typeface="Calibri Light"/>
              </a:rPr>
              <a:t>B · mercado internacional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31089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E6E73"/>
                </a:solidFill>
                <a:latin typeface="Calibri Light"/>
              </a:rPr>
              <a:t>Cobre puro: Antofagasta, BHP, Anglo, Lundin, Teck.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E6E73"/>
                </a:solidFill>
                <a:latin typeface="Calibri Light"/>
              </a:rPr>
              <a:t>Panel de efectos fijos.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194560"/>
            <a:ext cx="3520440" cy="2926080"/>
          </a:xfrm>
          <a:prstGeom prst="roundRect">
            <a:avLst/>
          </a:prstGeom>
          <a:solidFill>
            <a:srgbClr val="FBFBFD"/>
          </a:solidFill>
          <a:ln>
            <a:solidFill>
              <a:srgbClr val="E0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42316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C9712D"/>
                </a:solidFill>
                <a:latin typeface="Calibri Light"/>
              </a:rPr>
              <a:t>A · mercado chileno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291840"/>
            <a:ext cx="31089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E6E73"/>
                </a:solidFill>
                <a:latin typeface="Calibri Light"/>
              </a:rPr>
              <a:t>Cobre puro local: Pucobre (Bolsa de Santiago).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E6E73"/>
                </a:solidFill>
                <a:latin typeface="Calibri Light"/>
              </a:rPr>
              <a:t>Serie de tiempo.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194560"/>
            <a:ext cx="3520440" cy="2926080"/>
          </a:xfrm>
          <a:prstGeom prst="roundRect">
            <a:avLst/>
          </a:prstGeom>
          <a:solidFill>
            <a:srgbClr val="FBFBFD"/>
          </a:solidFill>
          <a:ln>
            <a:solidFill>
              <a:srgbClr val="E0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242316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F9F0A"/>
                </a:solidFill>
                <a:latin typeface="Calibri Light"/>
              </a:rPr>
              <a:t>C · sector minero (vehículo)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291840"/>
            <a:ext cx="31089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E6E73"/>
                </a:solidFill>
                <a:latin typeface="Calibri Light"/>
              </a:rPr>
              <a:t>Pucobre, CAP, SQM, Molymet.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E6E73"/>
                </a:solidFill>
                <a:latin typeface="Calibri Light"/>
              </a:rPr>
              <a:t>Panel; controla por cada commodity.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1">
                <a:solidFill>
                  <a:srgbClr val="1D1D1F"/>
                </a:solidFill>
                <a:latin typeface="Calibri Light"/>
              </a:rPr>
              <a:t>El foco es el cobre. La idea nueva: ¿el mismo subyacente se precia distinto según el mercado?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E6E73"/>
                </a:solidFill>
                <a:latin typeface="Calibri"/>
              </a:rPr>
              <a:t>Impacto macroeconómico en el sector cobre · USS · Magíster en Data Science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6E6E7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071E3"/>
                </a:solidFill>
                <a:latin typeface="Calibri"/>
              </a:rPr>
              <a:t>METODOLOGÍA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960120"/>
            <a:ext cx="640080" cy="63500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D1D1F"/>
                </a:solidFill>
                <a:latin typeface="Calibri Light"/>
              </a:rPr>
              <a:t>Una secuencia econométrica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2000">
                <a:solidFill>
                  <a:srgbClr val="0071E3"/>
                </a:solidFill>
              </a:rPr>
              <a:t>•  </a:t>
            </a:r>
            <a:r>
              <a:rPr sz="2000" b="1">
                <a:solidFill>
                  <a:srgbClr val="1D1D1F"/>
                </a:solidFill>
                <a:latin typeface="Calibri"/>
              </a:rPr>
              <a:t>OE1 · </a:t>
            </a:r>
            <a:r>
              <a:rPr sz="2000">
                <a:solidFill>
                  <a:srgbClr val="1D1D1F"/>
                </a:solidFill>
                <a:latin typeface="Calibri"/>
              </a:rPr>
              <a:t>Raíz unitaria (ADF/PP/KPSS/Zivot-Andrews) → orden de integración.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2000">
                <a:solidFill>
                  <a:srgbClr val="0071E3"/>
                </a:solidFill>
              </a:rPr>
              <a:t>•  </a:t>
            </a:r>
            <a:r>
              <a:rPr sz="2000" b="1">
                <a:solidFill>
                  <a:srgbClr val="1D1D1F"/>
                </a:solidFill>
                <a:latin typeface="Calibri"/>
              </a:rPr>
              <a:t>OE2 · </a:t>
            </a:r>
            <a:r>
              <a:rPr sz="2000">
                <a:solidFill>
                  <a:srgbClr val="1D1D1F"/>
                </a:solidFill>
                <a:latin typeface="Calibri"/>
              </a:rPr>
              <a:t>Panel de efectos fijos con errores Driscoll-Kraay (dependencia de sección cruzada).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2000">
                <a:solidFill>
                  <a:srgbClr val="0071E3"/>
                </a:solidFill>
              </a:rPr>
              <a:t>•  </a:t>
            </a:r>
            <a:r>
              <a:rPr sz="2000" b="1">
                <a:solidFill>
                  <a:srgbClr val="1D1D1F"/>
                </a:solidFill>
                <a:latin typeface="Calibri"/>
              </a:rPr>
              <a:t>OE3 · </a:t>
            </a:r>
            <a:r>
              <a:rPr sz="2000">
                <a:solidFill>
                  <a:srgbClr val="1D1D1F"/>
                </a:solidFill>
                <a:latin typeface="Calibri"/>
              </a:rPr>
              <a:t>Cointegración: ARDL, Johansen y Gregory-Hansen (con quiebre).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2000">
                <a:solidFill>
                  <a:srgbClr val="0071E3"/>
                </a:solidFill>
              </a:rPr>
              <a:t>•  </a:t>
            </a:r>
            <a:r>
              <a:rPr sz="2000" b="1">
                <a:solidFill>
                  <a:srgbClr val="1D1D1F"/>
                </a:solidFill>
                <a:latin typeface="Calibri"/>
              </a:rPr>
              <a:t>OE4 · </a:t>
            </a:r>
            <a:r>
              <a:rPr sz="2000">
                <a:solidFill>
                  <a:srgbClr val="1D1D1F"/>
                </a:solidFill>
                <a:latin typeface="Calibri"/>
              </a:rPr>
              <a:t>VAR/VECM, impulso-respuesta y descomposición de varianza (FEVD).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2000">
                <a:solidFill>
                  <a:srgbClr val="0071E3"/>
                </a:solidFill>
              </a:rPr>
              <a:t>•  </a:t>
            </a:r>
            <a:r>
              <a:rPr sz="2000" b="1">
                <a:solidFill>
                  <a:srgbClr val="1D1D1F"/>
                </a:solidFill>
                <a:latin typeface="Calibri"/>
              </a:rPr>
              <a:t>OE5 · </a:t>
            </a:r>
            <a:r>
              <a:rPr sz="2000">
                <a:solidFill>
                  <a:srgbClr val="1D1D1F"/>
                </a:solidFill>
                <a:latin typeface="Calibri"/>
              </a:rPr>
              <a:t>Fechado del ciclo (Bry-Boschan) e interacciones por fase.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2000">
                <a:solidFill>
                  <a:srgbClr val="0071E3"/>
                </a:solidFill>
              </a:rPr>
              <a:t>•  </a:t>
            </a:r>
            <a:r>
              <a:rPr sz="2000" b="1">
                <a:solidFill>
                  <a:srgbClr val="1D1D1F"/>
                </a:solidFill>
                <a:latin typeface="Calibri"/>
              </a:rPr>
              <a:t>OE6 · </a:t>
            </a:r>
            <a:r>
              <a:rPr sz="2000">
                <a:solidFill>
                  <a:srgbClr val="1D1D1F"/>
                </a:solidFill>
                <a:latin typeface="Calibri"/>
              </a:rPr>
              <a:t>Comparación entre mercados sobre las tres muestras.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E6E73"/>
                </a:solidFill>
                <a:latin typeface="Calibri"/>
              </a:rPr>
              <a:t>Impacto macroeconómico en el sector cobre · USS · Magíster en Data Science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6E6E7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071E3"/>
                </a:solidFill>
                <a:latin typeface="Calibri"/>
              </a:rPr>
              <a:t>RESULTADOS · OE5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960120"/>
            <a:ext cx="640080" cy="63500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1D1F"/>
                </a:solidFill>
                <a:latin typeface="Calibri Light"/>
              </a:rPr>
              <a:t>El ciclo del cobre</a:t>
            </a:r>
          </a:p>
        </p:txBody>
      </p:sp>
      <p:pic>
        <p:nvPicPr>
          <p:cNvPr id="5" name="Picture 4" descr="fig_ciclo_cob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20240"/>
            <a:ext cx="7498079" cy="34047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2194560"/>
            <a:ext cx="31089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D1D1F"/>
                </a:solidFill>
                <a:latin typeface="Calibri Light"/>
              </a:rPr>
              <a:t>Fases de expansión/contracción fechadas con Bry-Boschan, base del análisis por régimen.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E6E73"/>
                </a:solidFill>
                <a:latin typeface="Calibri"/>
              </a:rPr>
              <a:t>Impacto macroeconómico en el sector cobre · USS · Magíster en Data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6E6E7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071E3"/>
                </a:solidFill>
                <a:latin typeface="Calibri"/>
              </a:rPr>
              <a:t>RESULTADOS · OE2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960120"/>
            <a:ext cx="640080" cy="63500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1D1F"/>
                </a:solidFill>
                <a:latin typeface="Calibri Light"/>
              </a:rPr>
              <a:t>Sensibilidad por factor</a:t>
            </a:r>
          </a:p>
        </p:txBody>
      </p:sp>
      <p:pic>
        <p:nvPicPr>
          <p:cNvPr id="5" name="Picture 4" descr="fig_coefici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20240"/>
            <a:ext cx="7498079" cy="40765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2194560"/>
            <a:ext cx="31089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D1D1F"/>
                </a:solidFill>
                <a:latin typeface="Calibri Light"/>
              </a:rPr>
              <a:t>Panel de efectos fijos (Driscoll-Kraay). El cobre domina; el tipo de cambio pesa en negativo.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512064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C9712D"/>
                </a:solidFill>
                <a:latin typeface="Calibri Light"/>
              </a:rPr>
              <a:t>Cobre +0,57***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E6E73"/>
                </a:solidFill>
                <a:latin typeface="Calibri"/>
              </a:rPr>
              <a:t>Impacto macroeconómico en el sector cobre · USS · Magíster en Data Science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6E6E7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071E3"/>
                </a:solidFill>
                <a:latin typeface="Calibri"/>
              </a:rPr>
              <a:t>RESULTADOS · OE4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960120"/>
            <a:ext cx="640080" cy="63500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1D1F"/>
                </a:solidFill>
                <a:latin typeface="Calibri Light"/>
              </a:rPr>
              <a:t>Descomposición de varianza</a:t>
            </a:r>
          </a:p>
        </p:txBody>
      </p:sp>
      <p:pic>
        <p:nvPicPr>
          <p:cNvPr id="5" name="Picture 4" descr="fig_fev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20240"/>
            <a:ext cx="7498079" cy="55966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2194560"/>
            <a:ext cx="31089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D1D1F"/>
                </a:solidFill>
                <a:latin typeface="Calibri Light"/>
              </a:rPr>
              <a:t>Los shocks globales (cobre + VIX ≈ 32%) superan ampliamente a los locales (≈ 5%).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512064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C9712D"/>
                </a:solidFill>
                <a:latin typeface="Calibri Light"/>
              </a:rPr>
              <a:t>Evidencia de H6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E6E73"/>
                </a:solidFill>
                <a:latin typeface="Calibri"/>
              </a:rPr>
              <a:t>Impacto macroeconómico en el sector cobre · USS · Magíster en Data Science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6E6E7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071E3"/>
                </a:solidFill>
                <a:latin typeface="Calibri"/>
              </a:rPr>
              <a:t>RESULTADOS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960120"/>
            <a:ext cx="640080" cy="63500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D1D1F"/>
                </a:solidFill>
                <a:latin typeface="Calibri Light"/>
              </a:rPr>
              <a:t>Hallazgos centrales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2000">
                <a:solidFill>
                  <a:srgbClr val="0071E3"/>
                </a:solidFill>
              </a:rPr>
              <a:t>•  </a:t>
            </a:r>
            <a:r>
              <a:rPr sz="2000" b="1">
                <a:solidFill>
                  <a:srgbClr val="1D1D1F"/>
                </a:solidFill>
                <a:latin typeface="Calibri"/>
              </a:rPr>
              <a:t>Cobre +0,57*** </a:t>
            </a:r>
            <a:r>
              <a:rPr sz="2000">
                <a:solidFill>
                  <a:srgbClr val="1D1D1F"/>
                </a:solidFill>
                <a:latin typeface="Calibri"/>
              </a:rPr>
              <a:t>y robusto a corrección por pruebas múltiples (FDR): es el driver (H1).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2000">
                <a:solidFill>
                  <a:srgbClr val="0071E3"/>
                </a:solidFill>
              </a:rPr>
              <a:t>•  </a:t>
            </a:r>
            <a:r>
              <a:rPr sz="2000" b="1">
                <a:solidFill>
                  <a:srgbClr val="1D1D1F"/>
                </a:solidFill>
                <a:latin typeface="Calibri"/>
              </a:rPr>
              <a:t>Dominancia global (H6): </a:t>
            </a:r>
            <a:r>
              <a:rPr sz="2000">
                <a:solidFill>
                  <a:srgbClr val="1D1D1F"/>
                </a:solidFill>
                <a:latin typeface="Calibri"/>
              </a:rPr>
              <a:t>cobre + VIX explican ~32% de la varianza vs ~5% de los locales.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2000">
                <a:solidFill>
                  <a:srgbClr val="0071E3"/>
                </a:solidFill>
              </a:rPr>
              <a:t>•  </a:t>
            </a:r>
            <a:r>
              <a:rPr sz="2000" b="1">
                <a:solidFill>
                  <a:srgbClr val="1D1D1F"/>
                </a:solidFill>
                <a:latin typeface="Calibri"/>
              </a:rPr>
              <a:t>Cointegración con quiebre (2008): </a:t>
            </a:r>
            <a:r>
              <a:rPr sz="2000">
                <a:solidFill>
                  <a:srgbClr val="1D1D1F"/>
                </a:solidFill>
                <a:latin typeface="Calibri"/>
              </a:rPr>
              <a:t>la relación de largo plazo existe pero se reconfiguró con la crisis (Gregory-Hansen).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2000">
                <a:solidFill>
                  <a:srgbClr val="0071E3"/>
                </a:solidFill>
              </a:rPr>
              <a:t>•  </a:t>
            </a:r>
            <a:r>
              <a:rPr sz="2000" b="1">
                <a:solidFill>
                  <a:srgbClr val="1D1D1F"/>
                </a:solidFill>
                <a:latin typeface="Calibri"/>
              </a:rPr>
              <a:t>Volatilidad asimétrica: </a:t>
            </a:r>
            <a:r>
              <a:rPr sz="2000">
                <a:solidFill>
                  <a:srgbClr val="1D1D1F"/>
                </a:solidFill>
                <a:latin typeface="Calibri"/>
              </a:rPr>
              <a:t>GJR-GARCH detecta efecto apalancamiento (γ=0,22).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2000">
                <a:solidFill>
                  <a:srgbClr val="0071E3"/>
                </a:solidFill>
              </a:rPr>
              <a:t>•  </a:t>
            </a:r>
            <a:r>
              <a:rPr sz="2000" b="1">
                <a:solidFill>
                  <a:srgbClr val="1D1D1F"/>
                </a:solidFill>
                <a:latin typeface="Calibri"/>
              </a:rPr>
              <a:t>Comparación de mercados (H7): </a:t>
            </a:r>
            <a:r>
              <a:rPr sz="2000">
                <a:solidFill>
                  <a:srgbClr val="1D1D1F"/>
                </a:solidFill>
                <a:latin typeface="Calibri"/>
              </a:rPr>
              <a:t>el internacional incorpora algo más completamente el shock global.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E6E73"/>
                </a:solidFill>
                <a:latin typeface="Calibri"/>
              </a:rPr>
              <a:t>Impacto macroeconómico en el sector cobre · USS · Magíster en Data Science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6E6E7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071E3"/>
                </a:solidFill>
                <a:latin typeface="Calibri"/>
              </a:rPr>
              <a:t>RESULTADOS · OE6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960120"/>
            <a:ext cx="640080" cy="63500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1D1F"/>
                </a:solidFill>
                <a:latin typeface="Calibri Light"/>
              </a:rPr>
              <a:t>Comparación entre mercados</a:t>
            </a:r>
          </a:p>
        </p:txBody>
      </p:sp>
      <p:pic>
        <p:nvPicPr>
          <p:cNvPr id="5" name="Picture 4" descr="fig_triangul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20240"/>
            <a:ext cx="7498079" cy="37778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2194560"/>
            <a:ext cx="31089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D1D1F"/>
                </a:solidFill>
                <a:latin typeface="Calibri Light"/>
              </a:rPr>
              <a:t>β del cobre y dominancia global por muestra. Cobre puro: B≈A; menor en la minería mixta (C).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E6E73"/>
                </a:solidFill>
                <a:latin typeface="Calibri"/>
              </a:rPr>
              <a:t>Impacto macroeconómico en el sector cobre · USS · Magíster en Data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6E6E7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071E3"/>
                </a:solidFill>
                <a:latin typeface="Calibri"/>
              </a:rPr>
              <a:t>ROBUSTEZ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960120"/>
            <a:ext cx="640080" cy="63500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1D1F"/>
                </a:solidFill>
                <a:latin typeface="Calibri Light"/>
              </a:rPr>
              <a:t>Impulso-respuesta y proyecciones locales</a:t>
            </a:r>
          </a:p>
        </p:txBody>
      </p:sp>
      <p:pic>
        <p:nvPicPr>
          <p:cNvPr id="5" name="Picture 4" descr="fig_i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20240"/>
            <a:ext cx="7498079" cy="36419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2194560"/>
            <a:ext cx="31089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D1D1F"/>
                </a:solidFill>
                <a:latin typeface="Calibri Light"/>
              </a:rPr>
              <a:t>La respuesta positiva e inmediata al shock del cobre se confirma con Local Projections (Jordà).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E6E73"/>
                </a:solidFill>
                <a:latin typeface="Calibri"/>
              </a:rPr>
              <a:t>Impacto macroeconómico en el sector cobre · USS · Magíster en Data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6E6E7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071E3"/>
                </a:solidFill>
                <a:latin typeface="Calibri"/>
              </a:rPr>
              <a:t>EL HALLAZGO MEMORABLE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834640"/>
            <a:ext cx="99669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Calibri Light"/>
              </a:rPr>
              <a:t>El mismo cobre se precia de forma comparable en distintos mercados, pero el internacional incorpora más completamente los shocks globales — y la relación de largo plazo con el cobre se quebró con la crisis de 2008.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C0C0C8"/>
                </a:solidFill>
                <a:latin typeface="Calibri Light"/>
              </a:rPr>
              <a:t>Gracias.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